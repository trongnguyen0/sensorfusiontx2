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17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6857-F1D8-FD60-87D1-4CC0050B43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572AF-62B3-F15D-3BEC-7100077DE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81035-5B91-D27B-4079-724B2E61A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71F87-EF68-F241-9287-14423CEFC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960439-376F-51D8-9172-37E6076D4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92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8DC1-FB26-D816-B4F9-4034CB852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C751A-3219-E267-79C4-90D503040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41979-19B3-5C58-FF68-6130BD653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BBB28-8090-1D45-C7EA-0AA5EBADA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928FE-65C2-86EE-6AE9-B67288F0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16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AA78-6BCF-956A-A869-392D4F418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B6171-A94A-8788-F47E-9B29C038E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3CE93-147A-40F5-0902-F31EC0E52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76FD8-B887-5578-E5F1-6071F4FD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AB897-D563-9D8A-AB2F-3FF6EA683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644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34369-67A8-8226-F3F2-7341D84BB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78EEB-1474-67BD-C3D1-6EDA04FA2B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8509E4-B883-3800-BD75-D05AEF1B9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7D9302-C96C-E9A0-BE07-DFEEF91AA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7FF366-7CEC-84F6-C082-2A2796E3B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CF7A1C-B78B-AFC7-C00E-1BC557C59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89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4DD8A-CC5D-DF91-7C6F-1730FAF69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BE370-3494-9FBD-BCA6-8E96F27A8B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E99E16-1FED-CD97-C348-F73724937A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455A76-04E7-5A9D-62BF-8CE440F1A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C5066D-EADC-D9C4-0229-E0114ED86A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251E36-AD37-DC95-2335-D6DD46B50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D61D0-7F22-DB53-672D-4588DD8D4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B74240-F353-932A-3261-E20B4BF38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287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A7BCB-3B60-0AD0-193F-5B5B26996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BA2BF-0B12-1BA2-29F2-D01AE229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3FF1C-CBCB-D829-B200-46F110B1F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4F67A-7A2A-3007-4C9A-D28FE4D6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6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7CAEDB-47A3-6C8C-FCC4-4F6FBB25E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E7CD2-0959-FB72-57EB-CD233125B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D8E6B-158A-F6DF-5D00-59E37383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3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54C5-8D4A-B78D-684D-D4323C2EE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7C1C3-F269-F128-B20D-97B988BCB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10814D-A02A-C45B-D8A8-63FEB3B601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437C89-89AC-C449-B117-C61F8A42C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6EAADC-250D-F349-F433-F15C5FC28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C953B7-669B-C3A7-D97B-C1D570AD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628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BC05D-8C83-733E-8D27-1D25741DA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A859DB-3BB2-5721-0D52-23A1EE8C50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8F7BD8-F02E-C172-255A-D3C01C9A0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3F0436-7C6C-630E-EB8C-91D460D1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DDEE8E-1CEE-1C7F-2816-B911E30AC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32AD86-4FBC-63CA-A9CF-BE641177B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846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A0C2-196C-F86E-DCC1-06939C569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715BED-DB26-5130-B7C0-01EEC5F1B5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65765-3A6F-0017-9E88-51E87FAA0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3051C-FB3C-D24C-D480-A8DBD6C59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E3204-D93E-4E32-C849-52CE0EECF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544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5218F5-0B4D-A2A9-E228-8861DC0A0E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22CBE5-4B44-D087-2EC9-2BBF51C063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6EFE0-B026-D265-99E8-5A933598B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FB627-D1BC-568D-0A7B-C298EDC15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F53B2-0C53-45BB-8AE8-66E428957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35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F90CE8-1CBC-A979-2972-015D16F73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2FFE8-FB13-6302-2BBF-23BE79D98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3F004-CB8E-D754-C9DE-4962DF8A09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CAD095-9969-49E5-9ED9-BAE4BB15DC3C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7E60F-A301-5DA1-1A23-38F1F2EC30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00E82-8CE6-C8B6-3C8A-5A112E3C59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7DBDED-E3DE-45E1-98CD-D85A831C8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904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ADMIN/AppData/Local/Programs/Microsoft%20VS%20Code/61b3d0ab13/resources/app/out/vs/code/electron-browser/workbench/workbench.html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ADMIN/AppData/Local/Programs/Microsoft%20VS%20Code/61b3d0ab13/resources/app/out/vs/code/electron-browser/workbench/workbench.html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ADMIN/AppData/Local/Programs/Microsoft%20VS%20Code/61b3d0ab13/resources/app/out/vs/code/electron-browser/workbench/workbench.html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ADMIN/AppData/Local/Programs/Microsoft%20VS%20Code/61b3d0ab13/resources/app/out/vs/code/electron-browser/workbench/workbench.html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vscode-file://vscode-app/c:/Users/ADMIN/AppData/Local/Programs/Microsoft%20VS%20Code/61b3d0ab13/resources/app/out/vs/code/electron-browser/workbench/workbench.html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ADMIN/AppData/Local/Programs/Microsoft%20VS%20Code/61b3d0ab13/resources/app/out/vs/code/electron-browser/workbench/workbench.html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34215-3091-EA8D-281A-C34EBEFE65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8731C8-B3E8-B6EB-2153-C030FBD80D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85950"/>
            <a:ext cx="4305300" cy="3371850"/>
          </a:xfrm>
        </p:spPr>
        <p:txBody>
          <a:bodyPr/>
          <a:lstStyle/>
          <a:p>
            <a:pPr algn="l"/>
            <a:r>
              <a:rPr lang="vi-VN" b="1"/>
              <a:t>Phần cứng</a:t>
            </a:r>
          </a:p>
          <a:p>
            <a:pPr algn="l"/>
            <a:r>
              <a:rPr lang="vi-VN" b="1"/>
              <a:t>RPLidar A1M8</a:t>
            </a:r>
            <a:r>
              <a:rPr lang="vi-VN"/>
              <a:t> </a:t>
            </a:r>
          </a:p>
          <a:p>
            <a:pPr lvl="1" algn="l"/>
            <a:r>
              <a:rPr lang="vi-VN"/>
              <a:t>Quét 360° môi trường</a:t>
            </a:r>
          </a:p>
          <a:p>
            <a:pPr lvl="1" algn="l"/>
            <a:r>
              <a:rPr lang="vi-VN"/>
              <a:t>Tốc độ: 5.5 vòng/giây</a:t>
            </a:r>
          </a:p>
          <a:p>
            <a:pPr lvl="1" algn="l"/>
            <a:r>
              <a:rPr lang="vi-VN"/>
              <a:t>Khoảng cách: 0.15m - 12m</a:t>
            </a:r>
          </a:p>
          <a:p>
            <a:pPr algn="l"/>
            <a:r>
              <a:rPr lang="vi-VN" b="1"/>
              <a:t>Intel RealSense D435</a:t>
            </a:r>
            <a:r>
              <a:rPr lang="vi-VN"/>
              <a:t> </a:t>
            </a:r>
          </a:p>
          <a:p>
            <a:pPr lvl="1" algn="l"/>
            <a:r>
              <a:rPr lang="vi-VN"/>
              <a:t>Ảnh RGB + Depth</a:t>
            </a:r>
          </a:p>
          <a:p>
            <a:pPr lvl="1" algn="l"/>
            <a:r>
              <a:rPr lang="vi-VN"/>
              <a:t>640×480</a:t>
            </a:r>
          </a:p>
          <a:p>
            <a:pPr lvl="1" algn="l"/>
            <a:r>
              <a:rPr lang="vi-VN"/>
              <a:t>Cảm biến depth active stereo</a:t>
            </a:r>
          </a:p>
          <a:p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0DA7482-49BD-C8F7-E5F1-E6C15BAEC415}"/>
              </a:ext>
            </a:extLst>
          </p:cNvPr>
          <p:cNvSpPr txBox="1">
            <a:spLocks/>
          </p:cNvSpPr>
          <p:nvPr/>
        </p:nvSpPr>
        <p:spPr>
          <a:xfrm>
            <a:off x="5994400" y="1885950"/>
            <a:ext cx="4305300" cy="337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vi-VN" b="1"/>
              <a:t>Phần mềm</a:t>
            </a:r>
          </a:p>
          <a:p>
            <a:pPr algn="l"/>
            <a:r>
              <a:rPr lang="vi-VN" b="1"/>
              <a:t>Python 3.x</a:t>
            </a:r>
            <a:endParaRPr lang="vi-VN"/>
          </a:p>
          <a:p>
            <a:pPr algn="l"/>
            <a:r>
              <a:rPr lang="vi-VN"/>
              <a:t>Thư viện chính: </a:t>
            </a:r>
          </a:p>
          <a:p>
            <a:pPr lvl="1" algn="l"/>
            <a:r>
              <a:rPr lang="vi-VN"/>
              <a:t>rplidar - Điều khiển LiDAR</a:t>
            </a:r>
          </a:p>
          <a:p>
            <a:pPr lvl="1" algn="l"/>
            <a:r>
              <a:rPr lang="vi-VN"/>
              <a:t>pyrealsense2 - RealSense</a:t>
            </a:r>
          </a:p>
          <a:p>
            <a:pPr lvl="1" algn="l"/>
            <a:r>
              <a:rPr lang="vi-VN"/>
              <a:t>matplotlib - Hiển thị real-time</a:t>
            </a:r>
          </a:p>
          <a:p>
            <a:pPr lvl="1" algn="l"/>
            <a:r>
              <a:rPr lang="vi-VN"/>
              <a:t>opencv - Xử lý ảnh</a:t>
            </a:r>
          </a:p>
        </p:txBody>
      </p:sp>
    </p:spTree>
    <p:extLst>
      <p:ext uri="{BB962C8B-B14F-4D97-AF65-F5344CB8AC3E}">
        <p14:creationId xmlns:p14="http://schemas.microsoft.com/office/powerpoint/2010/main" val="171446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886FC-294E-3CB2-8062-F9E40E28E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CE8FD-26D1-3970-F993-D099FFDED8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575C19-D8AF-8F9F-EA45-1CC7F9C06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85950"/>
            <a:ext cx="8743950" cy="3371850"/>
          </a:xfrm>
        </p:spPr>
        <p:txBody>
          <a:bodyPr>
            <a:normAutofit/>
          </a:bodyPr>
          <a:lstStyle/>
          <a:p>
            <a:pPr algn="l"/>
            <a:r>
              <a:rPr lang="en-US" b="1"/>
              <a:t>Mục tiêu chính:</a:t>
            </a:r>
          </a:p>
          <a:p>
            <a:pPr lvl="1" algn="l"/>
            <a:r>
              <a:rPr lang="en-US" b="1"/>
              <a:t>1. Thu thập dữ liệu đồng bộ</a:t>
            </a:r>
            <a:endParaRPr lang="en-US"/>
          </a:p>
          <a:p>
            <a:pPr lvl="1" algn="l"/>
            <a:r>
              <a:rPr lang="en-US"/>
              <a:t>Thu thập dữ liệu từ 2 sensor đồng thời với timestamp chung</a:t>
            </a:r>
          </a:p>
          <a:p>
            <a:pPr lvl="1" algn="l"/>
            <a:r>
              <a:rPr lang="en-US" b="1"/>
              <a:t>2. Visualize real-time</a:t>
            </a:r>
            <a:endParaRPr lang="en-US"/>
          </a:p>
          <a:p>
            <a:pPr lvl="1" algn="l"/>
            <a:r>
              <a:rPr lang="en-US"/>
              <a:t>Hiển thị dữ liệu LiDAR trực tiếp dạng polar plot</a:t>
            </a:r>
          </a:p>
          <a:p>
            <a:pPr lvl="1" algn="l"/>
            <a:r>
              <a:rPr lang="en-US" b="1"/>
              <a:t>3. Phục vụ Calibration</a:t>
            </a:r>
            <a:endParaRPr lang="en-US"/>
          </a:p>
          <a:p>
            <a:pPr lvl="1" algn="l"/>
            <a:r>
              <a:rPr lang="en-US"/>
              <a:t>Tạo dataset để hiệu chuẩn ngoại và tích hợp 2 sensor</a:t>
            </a:r>
          </a:p>
        </p:txBody>
      </p:sp>
    </p:spTree>
    <p:extLst>
      <p:ext uri="{BB962C8B-B14F-4D97-AF65-F5344CB8AC3E}">
        <p14:creationId xmlns:p14="http://schemas.microsoft.com/office/powerpoint/2010/main" val="2765599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6A679-6376-A087-1244-7DFDA1A27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6E55-575B-0F74-9269-54828CF940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B33813F-4B93-4B4E-2335-3BE51A98835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733550" y="1567660"/>
            <a:ext cx="8299450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Khởi tạo LiDAR &amp; RealSense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Kết nối, kiểm tra health 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Cấu hình stream depth + color 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D38AEF4E-DC7F-6042-264C-AA48AE58DB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7900" y="2367879"/>
            <a:ext cx="8420100" cy="11951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425"/>
              </a:lnSpc>
            </a:pPr>
            <a:r>
              <a:rPr lang="fr-FR" sz="1400">
                <a:solidFill>
                  <a:srgbClr val="00108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lidar</a:t>
            </a:r>
            <a:r>
              <a:rPr lang="fr-FR" sz="140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fr-FR" sz="1400">
                <a:solidFill>
                  <a:srgbClr val="267F99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RPLidar</a:t>
            </a:r>
            <a:r>
              <a:rPr lang="fr-FR" sz="140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fr-FR" sz="1400">
                <a:solidFill>
                  <a:srgbClr val="0070C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PORT</a:t>
            </a:r>
            <a:r>
              <a:rPr lang="fr-FR" sz="140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fr-FR" sz="1400">
                <a:solidFill>
                  <a:srgbClr val="00108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baudrate</a:t>
            </a:r>
            <a:r>
              <a:rPr lang="fr-FR" sz="140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fr-FR" sz="1400">
                <a:solidFill>
                  <a:srgbClr val="098658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115200</a:t>
            </a:r>
            <a:r>
              <a:rPr lang="fr-FR" sz="140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fr-FR" sz="1400">
                <a:solidFill>
                  <a:srgbClr val="00108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timeout</a:t>
            </a:r>
            <a:r>
              <a:rPr lang="fr-FR" sz="140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fr-FR" sz="1400">
                <a:solidFill>
                  <a:srgbClr val="098658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fr-FR" sz="140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pipeline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.pipeline()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   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config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.enable_stream(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.stream.depth,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640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480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.format.z16,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30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   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config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.enable_stream(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.stream.color,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640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480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.format.bgr8,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30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CA5CE65-0A17-3DA3-3DD8-8988ADF7E7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550" y="3640892"/>
            <a:ext cx="8299450" cy="9859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eaLnBrk="0" fontAlgn="base" hangingPunct="0"/>
            <a:r>
              <a:rPr lang="en-US" sz="1800" b="1">
                <a:solidFill>
                  <a:srgbClr val="000000"/>
                </a:solidFill>
                <a:latin typeface="Arial" panose="020B0604020202020204" pitchFamily="34" charset="0"/>
              </a:rPr>
              <a:t>Tạo plot real-time (polar)</a:t>
            </a:r>
            <a:r>
              <a:rPr lang="en-US" sz="180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lang="en-US" sz="1400"/>
          </a:p>
          <a:p>
            <a:pPr marL="457200" algn="l" eaLnBrk="0" fontAlgn="base" hangingPunct="0"/>
            <a:r>
              <a:rPr lang="en-US" sz="1400">
                <a:solidFill>
                  <a:srgbClr val="000000"/>
                </a:solidFill>
                <a:latin typeface="Arial" panose="020B0604020202020204" pitchFamily="34" charset="0"/>
              </a:rPr>
              <a:t>Hiển thị dữ liệu quét 360° </a:t>
            </a:r>
            <a:endParaRPr lang="en-US" sz="1400"/>
          </a:p>
          <a:p>
            <a:pPr marL="457200" algn="l" eaLnBrk="0" fontAlgn="base" hangingPunct="0"/>
            <a:r>
              <a:rPr lang="en-US" sz="1400">
                <a:solidFill>
                  <a:srgbClr val="000000"/>
                </a:solidFill>
                <a:latin typeface="Arial" panose="020B0604020202020204" pitchFamily="34" charset="0"/>
              </a:rPr>
              <a:t>Cập nhật mỗi 0.2 giây </a:t>
            </a:r>
            <a:endParaRPr lang="en-US" sz="140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259C6B57-5C6A-61EA-DDA6-97C5A2FC13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7900" y="4703975"/>
            <a:ext cx="8978900" cy="11964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425"/>
              </a:lnSpc>
            </a:pP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fig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ax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>
                <a:solidFill>
                  <a:srgbClr val="267F99"/>
                </a:solidFill>
                <a:latin typeface="Consolas" panose="020B0609020204030204" pitchFamily="49" charset="0"/>
              </a:rPr>
              <a:t>plt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>
                <a:solidFill>
                  <a:srgbClr val="795E26"/>
                </a:solidFill>
                <a:latin typeface="Consolas" panose="020B0609020204030204" pitchFamily="49" charset="0"/>
              </a:rPr>
              <a:t>subplots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subplot_kw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={</a:t>
            </a:r>
            <a:r>
              <a:rPr lang="en-US" sz="1400">
                <a:solidFill>
                  <a:srgbClr val="A31515"/>
                </a:solidFill>
                <a:latin typeface="Consolas" panose="020B0609020204030204" pitchFamily="49" charset="0"/>
              </a:rPr>
              <a:t>'projection'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sz="1400">
                <a:solidFill>
                  <a:srgbClr val="A31515"/>
                </a:solidFill>
                <a:latin typeface="Consolas" panose="020B0609020204030204" pitchFamily="49" charset="0"/>
              </a:rPr>
              <a:t>'polar’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})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.set_data(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angles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distances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ax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.set_title(</a:t>
            </a:r>
            <a:r>
              <a:rPr lang="en-US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'LiDAR - Saved: </a:t>
            </a:r>
            <a:r>
              <a:rPr lang="en-US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save_count</a:t>
            </a:r>
            <a:r>
              <a:rPr lang="en-US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times - Points: </a:t>
            </a:r>
            <a:r>
              <a:rPr lang="en-US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current_scan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pause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5828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AD7C-6F60-AA63-8558-191FC15BC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0D3A1-E891-28E2-FBB3-7AA5C44F5E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7AD4341-B79F-F627-CA97-30FE1709D3B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733550" y="1567660"/>
            <a:ext cx="8299450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Vòng lặp đọc dữ liệu liên tục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Generator iter_scans() 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Xử lý từng scan (~1450 điểm) 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950C32D-AAD6-B597-F18D-9B1424D459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7900" y="2533437"/>
            <a:ext cx="8420100" cy="273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425"/>
              </a:lnSpc>
            </a:pPr>
            <a:r>
              <a:rPr lang="en-US" sz="1400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scan_data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>
                <a:solidFill>
                  <a:srgbClr val="AF00DB"/>
                </a:solidFill>
                <a:latin typeface="Consolas" panose="020B0609020204030204" pitchFamily="49" charset="0"/>
              </a:rPr>
              <a:t>in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lidar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.iter_scans():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246880D-874A-22FF-DABA-64CF96070F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550" y="2972147"/>
            <a:ext cx="8299450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Nhấn ‘s' để lưu snapshot</a:t>
            </a:r>
            <a:r>
              <a:rPr lang="en-US" altLang="en-US" sz="1800">
                <a:latin typeface="Arial" panose="020B0604020202020204" pitchFamily="34" charset="0"/>
              </a:rPr>
              <a:t> 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</a:rPr>
              <a:t>Phát hiện sự kiện bàn phím 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</a:rPr>
              <a:t>Kích hoạt quá trình lưu 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FEA3B78-A8DE-0AEF-8B89-0F87248326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70782" y="3937924"/>
            <a:ext cx="8299450" cy="5809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425"/>
              </a:lnSpc>
            </a:pPr>
            <a:r>
              <a:rPr lang="en-US" sz="1400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>
                <a:solidFill>
                  <a:srgbClr val="267F99"/>
                </a:solidFill>
                <a:latin typeface="Consolas" panose="020B0609020204030204" pitchFamily="49" charset="0"/>
              </a:rPr>
              <a:t>keyboard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>
                <a:solidFill>
                  <a:srgbClr val="795E26"/>
                </a:solidFill>
                <a:latin typeface="Consolas" panose="020B0609020204030204" pitchFamily="49" charset="0"/>
              </a:rPr>
              <a:t>is_pressed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 panose="020B0609020204030204" pitchFamily="49" charset="0"/>
              </a:rPr>
              <a:t>'s'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algn="l">
              <a:lnSpc>
                <a:spcPts val="1425"/>
              </a:lnSpc>
            </a:pP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save_request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en-US" sz="14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31C8AD1-A002-6BBE-01F1-CD8F3DEB76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550" y="4684410"/>
            <a:ext cx="8299450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>
                <a:latin typeface="Arial" panose="020B0604020202020204" pitchFamily="34" charset="0"/>
              </a:rPr>
              <a:t>Đồng bộ lưu cả LiDAR + Camera</a:t>
            </a:r>
            <a:r>
              <a:rPr lang="en-US" altLang="en-US" sz="1800">
                <a:latin typeface="Arial" panose="020B0604020202020204" pitchFamily="34" charset="0"/>
              </a:rPr>
              <a:t> 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</a:rPr>
              <a:t>Timestamp chung (milliseconds) 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</a:rPr>
              <a:t>3 loại ảnh + CSV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09B709-2B09-911A-DB47-8FC07D2C36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7900" y="5496299"/>
            <a:ext cx="8299450" cy="8887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timestamp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*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40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l">
              <a:lnSpc>
                <a:spcPts val="1425"/>
              </a:lnSpc>
            </a:pPr>
            <a:r>
              <a:rPr lang="en-US" sz="1400">
                <a:solidFill>
                  <a:srgbClr val="795E26"/>
                </a:solidFill>
                <a:latin typeface="Consolas" panose="020B0609020204030204" pitchFamily="49" charset="0"/>
              </a:rPr>
              <a:t>save_scan_data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writer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scan_data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timestamp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algn="l">
              <a:lnSpc>
                <a:spcPts val="1425"/>
              </a:lnSpc>
            </a:pPr>
            <a:r>
              <a:rPr lang="en-US" sz="1400">
                <a:solidFill>
                  <a:srgbClr val="795E26"/>
                </a:solidFill>
                <a:latin typeface="Consolas" panose="020B0609020204030204" pitchFamily="49" charset="0"/>
              </a:rPr>
              <a:t>capture_realsense_image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pipeline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align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>
                <a:solidFill>
                  <a:srgbClr val="001080"/>
                </a:solidFill>
                <a:latin typeface="Consolas" panose="020B0609020204030204" pitchFamily="49" charset="0"/>
              </a:rPr>
              <a:t>timestamp</a:t>
            </a: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2727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6FF4B-0809-4036-A4DA-8D757458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A31BC-0089-509D-CAD1-8052822E7E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84B886A-6FCD-58D6-7EBD-10F86447DDD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2266617"/>
            <a:ext cx="7372350" cy="32265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/>
              <a:t>Kiến trúc:</a:t>
            </a:r>
          </a:p>
          <a:p>
            <a:pPr algn="l"/>
            <a:r>
              <a:rPr lang="en-US" b="1"/>
              <a:t>Input</a:t>
            </a:r>
            <a:r>
              <a:rPr lang="en-US"/>
              <a:t>: 2 sensor (LiDAR + RealSense) </a:t>
            </a:r>
          </a:p>
          <a:p>
            <a:pPr algn="l"/>
            <a:r>
              <a:rPr lang="en-US" b="1"/>
              <a:t>Processing</a:t>
            </a:r>
            <a:r>
              <a:rPr lang="en-US"/>
              <a:t>: Main loop với generator</a:t>
            </a:r>
          </a:p>
          <a:p>
            <a:pPr algn="l"/>
            <a:r>
              <a:rPr lang="en-US" b="1"/>
              <a:t>Output</a:t>
            </a:r>
            <a:r>
              <a:rPr lang="en-US"/>
              <a:t>: </a:t>
            </a:r>
          </a:p>
          <a:p>
            <a:pPr lvl="1" algn="l"/>
            <a:r>
              <a:rPr lang="en-US"/>
              <a:t>CSV file (timestamp, angle, distance)</a:t>
            </a:r>
          </a:p>
          <a:p>
            <a:pPr lvl="1" algn="l"/>
            <a:r>
              <a:rPr lang="en-US"/>
              <a:t>3 loại ảnh (color, depth, depth_colormap)</a:t>
            </a:r>
          </a:p>
          <a:p>
            <a:pPr algn="l"/>
            <a:r>
              <a:rPr lang="en-US" b="1"/>
              <a:t>Visualization</a:t>
            </a:r>
            <a:r>
              <a:rPr lang="en-US"/>
              <a:t>: Real-time polar plot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429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1C8D29-4195-3795-8841-F27194E6C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0A62E-3B9F-AD64-2990-225547ED6C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1" y="1141711"/>
            <a:ext cx="3205316" cy="3474364"/>
          </a:xfrm>
        </p:spPr>
        <p:txBody>
          <a:bodyPr anchor="t">
            <a:normAutofit/>
          </a:bodyPr>
          <a:lstStyle/>
          <a:p>
            <a:pPr algn="l"/>
            <a:r>
              <a:rPr lang="en-US" sz="3200" b="1"/>
              <a:t>THU THẬP DỮ LIỆU</a:t>
            </a:r>
            <a:r>
              <a:rPr lang="en-US" sz="3200"/>
              <a:t> </a:t>
            </a:r>
            <a:r>
              <a:rPr lang="en-US" sz="3200" b="1"/>
              <a:t>LiDAR &amp; RealSense Camera</a:t>
            </a:r>
            <a:endParaRPr lang="en-US" sz="32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022946D-8828-9A21-9959-7C0954B76E0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62000" y="4609474"/>
            <a:ext cx="3205316" cy="126329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pPr algn="l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800" b="1"/>
              <a:t>Output</a:t>
            </a:r>
            <a:r>
              <a:rPr lang="en-US" sz="1800"/>
              <a:t>: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92712F8-36FA-35DF-0CE8-4098D9332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641DA02-FCED-B4C5-BB1E-0EA04C266E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1999" y="1"/>
            <a:ext cx="7620001" cy="6858000"/>
          </a:xfrm>
          <a:prstGeom prst="rect">
            <a:avLst/>
          </a:prstGeom>
          <a:solidFill>
            <a:schemeClr val="bg1">
              <a:lumMod val="9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9C367E-0CB2-C2D2-51EC-BF3D6533E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768" y="929841"/>
            <a:ext cx="1613467" cy="24991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F41841-0878-BD0A-C8AA-B99720B8D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058" y="1170064"/>
            <a:ext cx="2898831" cy="21741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8C6E11-7427-1930-FA65-5297636BB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702" y="3820340"/>
            <a:ext cx="2898831" cy="21596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AB881D-1C0E-886F-8991-005BD02E21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3058" y="3829263"/>
            <a:ext cx="2898831" cy="2159379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BD95455F-1B32-51E8-5D84-0D8A850785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3483633"/>
            <a:ext cx="1297005" cy="2820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b" anchorCtr="0" compatLnSpc="1">
            <a:prstTxWarp prst="textNoShape">
              <a:avLst/>
            </a:prstTxWarp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800" b="1"/>
              <a:t>Dữ liệu lidar</a:t>
            </a:r>
            <a:endParaRPr lang="en-US" sz="1800"/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934B8F7E-30E8-D512-17FD-D9281EAB28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76995" y="3445688"/>
            <a:ext cx="1297005" cy="2820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b" anchorCtr="0" compatLnSpc="1">
            <a:prstTxWarp prst="textNoShape">
              <a:avLst/>
            </a:prstTxWarp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800" b="1"/>
              <a:t>RGB</a:t>
            </a:r>
            <a:endParaRPr lang="en-US" sz="1800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7AC70C63-CD5B-A662-1FDD-033B3D297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765" y="6090144"/>
            <a:ext cx="1297005" cy="2820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b" anchorCtr="0" compatLnSpc="1">
            <a:prstTxWarp prst="textNoShape">
              <a:avLst/>
            </a:prstTxWarp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800" b="1"/>
              <a:t>Depth</a:t>
            </a:r>
            <a:endParaRPr lang="en-US" sz="1800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C58807FB-0632-A5A9-7319-CBDAAD8C0C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33879" y="6090144"/>
            <a:ext cx="1721210" cy="2820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b" anchorCtr="0" compatLnSpc="1">
            <a:prstTxWarp prst="textNoShape">
              <a:avLst/>
            </a:prstTxWarp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800" b="1"/>
              <a:t>Depth Colormap</a:t>
            </a:r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03380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BF3B1-6DF0-E69E-575C-9AAA1DBDD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F6BF0-024C-F091-62A5-EF59517F14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E8252F59-ACE3-E764-73EF-C0340EADB92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2569776"/>
            <a:ext cx="8890000" cy="26202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Chương trình chạy </a:t>
            </a:r>
            <a:r>
              <a:rPr lang="en-US" b="1"/>
              <a:t>2 thread song song</a:t>
            </a:r>
            <a:r>
              <a:rPr lang="en-US"/>
              <a:t>:</a:t>
            </a:r>
          </a:p>
          <a:p>
            <a:pPr lvl="0" algn="l"/>
            <a:r>
              <a:rPr lang="en-US" b="1"/>
              <a:t>Thread phụ</a:t>
            </a:r>
            <a:r>
              <a:rPr lang="en-US"/>
              <a:t> (daemon): liên tục đọc dữ liệu từ LiDAR qua cổng COM3, lọc giữ ±90°, lưu vào biến chung </a:t>
            </a:r>
            <a:r>
              <a:rPr lang="en-US" u="sng">
                <a:hlinkClick r:id="rId2"/>
              </a:rPr>
              <a:t>latest_filtered</a:t>
            </a:r>
            <a:r>
              <a:rPr lang="en-US"/>
              <a:t> có khóa </a:t>
            </a:r>
            <a:r>
              <a:rPr lang="en-US" u="sng">
                <a:hlinkClick r:id="rId2"/>
              </a:rPr>
              <a:t>scan_lock</a:t>
            </a:r>
            <a:r>
              <a:rPr lang="en-US"/>
              <a:t> để đồng bộ.</a:t>
            </a:r>
          </a:p>
          <a:p>
            <a:pPr lvl="0" algn="l"/>
            <a:r>
              <a:rPr lang="en-US" b="1"/>
              <a:t>Thread chính</a:t>
            </a:r>
            <a:r>
              <a:rPr lang="en-US"/>
              <a:t>: cập nhật biểu đồ polar real-time, lắng nghe phím bấm, xử lý giao diện.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C8713-FA44-29FD-C4AB-7CD6873C0725}"/>
              </a:ext>
            </a:extLst>
          </p:cNvPr>
          <p:cNvSpPr txBox="1"/>
          <p:nvPr/>
        </p:nvSpPr>
        <p:spPr>
          <a:xfrm>
            <a:off x="1524000" y="202513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trúc:</a:t>
            </a:r>
          </a:p>
        </p:txBody>
      </p:sp>
    </p:spTree>
    <p:extLst>
      <p:ext uri="{BB962C8B-B14F-4D97-AF65-F5344CB8AC3E}">
        <p14:creationId xmlns:p14="http://schemas.microsoft.com/office/powerpoint/2010/main" val="42452781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78A6-041D-24D8-0CD6-10DF9E723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0B220-FD70-5ABA-A4C8-A07701965D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ADD5C6F-4AA8-8C1A-EBC5-FAA4F4D47A2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2793584"/>
            <a:ext cx="7372350" cy="2718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/>
              <a:t>Chụp ảnh camera trước</a:t>
            </a:r>
            <a:r>
              <a:rPr lang="en-US"/>
              <a:t> — gọi </a:t>
            </a:r>
            <a:r>
              <a:rPr lang="en-US" u="sng">
                <a:hlinkClick r:id="rId2"/>
              </a:rPr>
              <a:t>capture_frames()</a:t>
            </a:r>
            <a:endParaRPr lang="en-US" u="sng"/>
          </a:p>
          <a:p>
            <a:pPr algn="l"/>
            <a:endParaRPr kumimoji="0" lang="en-US" altLang="en-US" sz="1800" b="0" i="0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depth_frame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aligned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.get_depth_frame()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color_frame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aligned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.get_color_frame()</a:t>
            </a:r>
          </a:p>
          <a:p>
            <a:pPr algn="l">
              <a:lnSpc>
                <a:spcPts val="1425"/>
              </a:lnSpc>
              <a:buNone/>
            </a:pPr>
            <a:endParaRPr 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depth_img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asanyarray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depth_frame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.get_data()) 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color_img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asanyarray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color_frame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.get_data())</a:t>
            </a:r>
          </a:p>
          <a:p>
            <a:pPr algn="l"/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71618F-047C-A6F0-D40A-4AA4B84AB807}"/>
              </a:ext>
            </a:extLst>
          </p:cNvPr>
          <p:cNvSpPr txBox="1"/>
          <p:nvPr/>
        </p:nvSpPr>
        <p:spPr>
          <a:xfrm>
            <a:off x="1524000" y="197415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Luồng hoạt động:</a:t>
            </a:r>
          </a:p>
        </p:txBody>
      </p:sp>
    </p:spTree>
    <p:extLst>
      <p:ext uri="{BB962C8B-B14F-4D97-AF65-F5344CB8AC3E}">
        <p14:creationId xmlns:p14="http://schemas.microsoft.com/office/powerpoint/2010/main" val="1013577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72C1D-A251-6B04-832B-4546632F6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DAC10-3A51-787E-A1DC-9C4056C1D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90A51B5-B2B4-B6FA-72B5-C1B4A7D5988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2807791"/>
            <a:ext cx="9486900" cy="33342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/>
              <a:t>Chọn 2 đầu thanh trên LiDAR</a:t>
            </a:r>
            <a:r>
              <a:rPr lang="en-US"/>
              <a:t> — hàm </a:t>
            </a:r>
            <a:r>
              <a:rPr lang="en-US" u="sng">
                <a:hlinkClick r:id="rId2"/>
              </a:rPr>
              <a:t>select_bar_points()</a:t>
            </a:r>
            <a:endParaRPr lang="en-US" u="sng"/>
          </a:p>
          <a:p>
            <a:pPr algn="l"/>
            <a:endParaRPr kumimoji="0" lang="en-US" altLang="en-US" sz="1800" b="0" i="0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a_range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angles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-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angles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angles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angles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d_range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dists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-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dists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dists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dists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</a:p>
          <a:p>
            <a:pPr algn="l">
              <a:lnSpc>
                <a:spcPts val="1425"/>
              </a:lnSpc>
              <a:buNone/>
            </a:pPr>
            <a:endParaRPr 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enumerate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zip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angles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dists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dist_sq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.xdata) /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a_range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)**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((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.ydata) /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d_range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)**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algn="l">
              <a:lnSpc>
                <a:spcPts val="1425"/>
              </a:lnSpc>
              <a:buNone/>
            </a:pPr>
            <a:endParaRPr 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scan_data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 algn="l"/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9D644C-56E7-3302-B79B-F1D7A8681C96}"/>
              </a:ext>
            </a:extLst>
          </p:cNvPr>
          <p:cNvSpPr txBox="1"/>
          <p:nvPr/>
        </p:nvSpPr>
        <p:spPr>
          <a:xfrm>
            <a:off x="1524000" y="197415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Luồng hoạt động:</a:t>
            </a:r>
          </a:p>
        </p:txBody>
      </p:sp>
    </p:spTree>
    <p:extLst>
      <p:ext uri="{BB962C8B-B14F-4D97-AF65-F5344CB8AC3E}">
        <p14:creationId xmlns:p14="http://schemas.microsoft.com/office/powerpoint/2010/main" val="1536961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A5E8C-F5D6-7D71-EC81-B3543EF64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4FE2-748E-F3B6-C4BD-1EE32675EF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9554ABC-F8BB-A96F-3A61-C45F444ED83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2448953"/>
            <a:ext cx="9486900" cy="23411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/>
              <a:t>Chọn 2 đầu thanh trên ảnh RGB</a:t>
            </a:r>
            <a:r>
              <a:rPr lang="en-US"/>
              <a:t> — hàm </a:t>
            </a:r>
            <a:r>
              <a:rPr lang="en-US" u="sng">
                <a:hlinkClick r:id="rId2"/>
              </a:rPr>
              <a:t>select_image_points()</a:t>
            </a:r>
            <a:endParaRPr lang="en-US" u="sng"/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cv2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namedWindow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"Select Points"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cv2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moveWindow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"Select Points"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cv2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setMouseCallback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"Select Points"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mouse_cb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cv2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imshow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"Select Points"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click_image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/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15516-CCC8-E1EC-0712-E967A5DEE456}"/>
              </a:ext>
            </a:extLst>
          </p:cNvPr>
          <p:cNvSpPr txBox="1"/>
          <p:nvPr/>
        </p:nvSpPr>
        <p:spPr>
          <a:xfrm>
            <a:off x="1524000" y="197415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Luồng hoạt động:</a:t>
            </a:r>
          </a:p>
        </p:txBody>
      </p:sp>
    </p:spTree>
    <p:extLst>
      <p:ext uri="{BB962C8B-B14F-4D97-AF65-F5344CB8AC3E}">
        <p14:creationId xmlns:p14="http://schemas.microsoft.com/office/powerpoint/2010/main" val="499367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3595-10E7-44BF-9491-831DAE89F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9EDE-AFDA-3733-D6BE-B2901BAEC5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FCB52898-9E08-9815-FFC3-AA6405AD9FD7}"/>
                  </a:ext>
                </a:extLst>
              </p:cNvPr>
              <p:cNvSpPr>
                <a:spLocks noGrp="1" noChangeArrowheads="1"/>
              </p:cNvSpPr>
              <p:nvPr>
                <p:ph type="subTitle" idx="1"/>
              </p:nvPr>
            </p:nvSpPr>
            <p:spPr bwMode="auto">
              <a:xfrm>
                <a:off x="1524000" y="2801570"/>
                <a:ext cx="9944100" cy="31742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b="1"/>
                  <a:t>Mapping</a:t>
                </a:r>
                <a:r>
                  <a:rPr lang="en-US"/>
                  <a:t> — hàm </a:t>
                </a:r>
                <a:r>
                  <a:rPr lang="en-US" u="sng">
                    <a:hlinkClick r:id="rId2"/>
                  </a:rPr>
                  <a:t>map_lidar_to_image()</a:t>
                </a:r>
                <a:endParaRPr lang="en-US"/>
              </a:p>
              <a:p>
                <a:pPr algn="l">
                  <a:lnSpc>
                    <a:spcPct val="150000"/>
                  </a:lnSpc>
                </a:pPr>
                <a:r>
                  <a:rPr lang="en-US"/>
                  <a:t>Ánh xạ từng điểm LiDAR sang pixel bằng </a:t>
                </a:r>
                <a:r>
                  <a:rPr lang="en-US" b="1"/>
                  <a:t>nội suy tuyến tính</a:t>
                </a:r>
                <a:r>
                  <a:rPr lang="en-US"/>
                  <a:t>: tính </a:t>
                </a:r>
                <a:endParaRPr lang="en-US" i="1"/>
              </a:p>
              <a:p>
                <a:pPr algn="l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  <m:r>
                      <a:rPr lang="en-US" i="1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𝑎𝑛𝑔𝑙𝑒</m:t>
                        </m:r>
                        <m:r>
                          <a:rPr lang="en-US" i="1"/>
                          <m:t>−</m:t>
                        </m:r>
                        <m:r>
                          <a:rPr lang="en-US" i="1"/>
                          <m:t>𝑎𝑛𝑔𝑙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𝑒</m:t>
                            </m:r>
                          </m:e>
                          <m:sub>
                            <m:r>
                              <a:rPr lang="en-US" i="1"/>
                              <m:t>𝑚𝑖𝑛</m:t>
                            </m:r>
                          </m:sub>
                        </m:sSub>
                      </m:num>
                      <m:den>
                        <m:r>
                          <a:rPr lang="en-US" i="1"/>
                          <m:t>𝑎𝑛𝑔𝑙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𝑒</m:t>
                            </m:r>
                          </m:e>
                          <m:sub>
                            <m:r>
                              <a:rPr lang="en-US" i="1"/>
                              <m:t>𝑚𝑎𝑥</m:t>
                            </m:r>
                          </m:sub>
                        </m:sSub>
                        <m:r>
                          <a:rPr lang="en-US" i="1"/>
                          <m:t>−</m:t>
                        </m:r>
                        <m:r>
                          <a:rPr lang="en-US" i="1"/>
                          <m:t>𝑎𝑛𝑔𝑙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𝑒</m:t>
                            </m:r>
                          </m:e>
                          <m:sub>
                            <m:r>
                              <a:rPr lang="en-US" i="1"/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/>
                  <a:t>, rồi </a:t>
                </a:r>
                <a14:m>
                  <m:oMath xmlns:m="http://schemas.openxmlformats.org/officeDocument/2006/math">
                    <m:r>
                      <a:rPr lang="en-US" i="1"/>
                      <m:t>𝑝𝑖𝑥𝑒𝑙</m:t>
                    </m:r>
                    <m:r>
                      <a:rPr lang="en-US" i="1"/>
                      <m:t>=</m:t>
                    </m:r>
                    <m:r>
                      <a:rPr lang="en-US" i="1"/>
                      <m:t>𝑃</m:t>
                    </m:r>
                    <m:r>
                      <a:rPr lang="en-US" i="1"/>
                      <m:t>1+</m:t>
                    </m:r>
                    <m:r>
                      <a:rPr lang="en-US" i="1"/>
                      <m:t>𝑡</m:t>
                    </m:r>
                    <m:r>
                      <a:rPr lang="en-US" i="1"/>
                      <m:t>×(</m:t>
                    </m:r>
                    <m:r>
                      <a:rPr lang="en-US" i="1"/>
                      <m:t>𝑃</m:t>
                    </m:r>
                    <m:r>
                      <a:rPr lang="en-US" i="1"/>
                      <m:t>2−</m:t>
                    </m:r>
                    <m:r>
                      <a:rPr lang="en-US" i="1"/>
                      <m:t>𝑃</m:t>
                    </m:r>
                    <m:r>
                      <a:rPr lang="en-US" i="1"/>
                      <m:t>1)</m:t>
                    </m:r>
                  </m:oMath>
                </a14:m>
                <a:r>
                  <a:rPr lang="en-US"/>
                  <a:t>. </a:t>
                </a:r>
              </a:p>
              <a:p>
                <a:pPr algn="l">
                  <a:lnSpc>
                    <a:spcPct val="150000"/>
                  </a:lnSpc>
                </a:pPr>
                <a:r>
                  <a:rPr lang="en-US"/>
                  <a:t>Khi </a:t>
                </a:r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  <m:r>
                      <a:rPr lang="en-US" i="1"/>
                      <m:t>=0</m:t>
                    </m:r>
                  </m:oMath>
                </a14:m>
                <a:r>
                  <a:rPr lang="en-US"/>
                  <a:t> thì ra P1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/>
                      <m:t>𝑡</m:t>
                    </m:r>
                    <m:r>
                      <a:rPr lang="en-US" i="1"/>
                      <m:t>=1</m:t>
                    </m:r>
                  </m:oMath>
                </a14:m>
                <a:r>
                  <a:rPr lang="en-US"/>
                  <a:t> ra P2, ở giữa thì nội suy.</a:t>
                </a:r>
              </a:p>
              <a:p>
                <a:pPr algn="l"/>
                <a:endParaRPr kumimoji="0" lang="en-US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FCB52898-9E08-9815-FFC3-AA6405AD9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 bwMode="auto">
              <a:xfrm>
                <a:off x="1524000" y="2801570"/>
                <a:ext cx="9944100" cy="3174267"/>
              </a:xfrm>
              <a:prstGeom prst="rect">
                <a:avLst/>
              </a:prstGeom>
              <a:blipFill>
                <a:blip r:embed="rId3"/>
                <a:stretch>
                  <a:fillRect l="-920" t="-211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F974EC7-1F0F-E4C2-2A9E-199666E25EA6}"/>
              </a:ext>
            </a:extLst>
          </p:cNvPr>
          <p:cNvSpPr txBox="1"/>
          <p:nvPr/>
        </p:nvSpPr>
        <p:spPr>
          <a:xfrm>
            <a:off x="1524000" y="197415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Luồng hoạt động:</a:t>
            </a:r>
          </a:p>
        </p:txBody>
      </p:sp>
    </p:spTree>
    <p:extLst>
      <p:ext uri="{BB962C8B-B14F-4D97-AF65-F5344CB8AC3E}">
        <p14:creationId xmlns:p14="http://schemas.microsoft.com/office/powerpoint/2010/main" val="1842041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6D132-5419-BEB3-09D7-09C1D8B11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0CA1F-2B00-D1DA-5506-62D5B75B3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3212D9F-37FD-E8E0-37ED-42C7551CCA3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3088092"/>
            <a:ext cx="9486900" cy="2601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/>
              <a:t>Mapping</a:t>
            </a:r>
            <a:r>
              <a:rPr lang="en-US"/>
              <a:t> — hàm </a:t>
            </a:r>
            <a:r>
              <a:rPr lang="en-US" u="sng">
                <a:hlinkClick r:id="rId2"/>
              </a:rPr>
              <a:t>map_lidar_to_image()</a:t>
            </a:r>
            <a:endParaRPr lang="en-US" u="sng"/>
          </a:p>
          <a:p>
            <a:pPr algn="l"/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	if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max_a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angle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max_a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min_a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	</a:t>
            </a:r>
            <a:r>
              <a:rPr lang="en-US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	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-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]))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	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(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- </a:t>
            </a:r>
            <a:r>
              <a:rPr lang="en-US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]))</a:t>
            </a:r>
          </a:p>
          <a:p>
            <a:pPr>
              <a:lnSpc>
                <a:spcPts val="1425"/>
              </a:lnSpc>
              <a:buNone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9EAD14-DC6A-4C1E-7E40-F2634301C08B}"/>
              </a:ext>
            </a:extLst>
          </p:cNvPr>
          <p:cNvSpPr txBox="1"/>
          <p:nvPr/>
        </p:nvSpPr>
        <p:spPr>
          <a:xfrm>
            <a:off x="1524000" y="197415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Luồng hoạt động:</a:t>
            </a:r>
          </a:p>
        </p:txBody>
      </p:sp>
    </p:spTree>
    <p:extLst>
      <p:ext uri="{BB962C8B-B14F-4D97-AF65-F5344CB8AC3E}">
        <p14:creationId xmlns:p14="http://schemas.microsoft.com/office/powerpoint/2010/main" val="1981984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49F97-3B99-E20A-CEBB-489F9CBE1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F6226-544C-057E-9129-A3B176C20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5963"/>
            <a:ext cx="9144000" cy="681037"/>
          </a:xfrm>
        </p:spPr>
        <p:txBody>
          <a:bodyPr>
            <a:normAutofit/>
          </a:bodyPr>
          <a:lstStyle/>
          <a:p>
            <a:r>
              <a:rPr lang="en-US" sz="3000" b="1"/>
              <a:t>THU THẬP DỮ LIỆU</a:t>
            </a:r>
            <a:r>
              <a:rPr lang="en-US" sz="3000"/>
              <a:t> </a:t>
            </a:r>
            <a:r>
              <a:rPr lang="en-US" sz="3000" b="1"/>
              <a:t>LiDAR &amp; RealSense Camera</a:t>
            </a:r>
            <a:endParaRPr lang="en-US" sz="3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3447F81-65C6-AE24-83D3-530801F7F87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2140910"/>
            <a:ext cx="9486900" cy="4495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output: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"angle"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0.46875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"distance"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957.0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"pixel_x"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227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"pixel_y"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222</a:t>
            </a:r>
            <a:endParaRPr 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},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"angle"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1.828125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"distance"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952.75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"pixel_x"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261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"pixel_y"</a:t>
            </a: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220</a:t>
            </a:r>
            <a:endParaRPr 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>
              <a:lnSpc>
                <a:spcPts val="1425"/>
              </a:lnSpc>
              <a:buNone/>
            </a:pPr>
            <a:r>
              <a:rPr 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},</a:t>
            </a:r>
          </a:p>
          <a:p>
            <a:pPr algn="l"/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669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1126</Words>
  <Application>Microsoft Office PowerPoint</Application>
  <PresentationFormat>Widescreen</PresentationFormat>
  <Paragraphs>133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Consolas</vt:lpstr>
      <vt:lpstr>Times New Roman</vt:lpstr>
      <vt:lpstr>Office Theme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  <vt:lpstr>THU THẬP DỮ LIỆU LiDAR &amp; RealSense Camera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SOS Đà Lạt 3</dc:creator>
  <cp:lastModifiedBy>SOS Đà Lạt 3</cp:lastModifiedBy>
  <cp:revision>7</cp:revision>
  <dcterms:created xsi:type="dcterms:W3CDTF">2026-01-28T01:28:20Z</dcterms:created>
  <dcterms:modified xsi:type="dcterms:W3CDTF">2026-03-08T02:28:00Z</dcterms:modified>
</cp:coreProperties>
</file>